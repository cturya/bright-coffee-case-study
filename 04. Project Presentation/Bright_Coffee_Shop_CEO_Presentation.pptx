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C2414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Drinking
Chocolate</c:v>
                  </c:pt>
                  <c:pt idx="4">
                    <c:v>Coffee
Beans</c:v>
                  </c:pt>
                  <c:pt idx="5">
                    <c:v>Branded</c:v>
                  </c:pt>
                  <c:pt idx="6">
                    <c:v>Loose Tea</c:v>
                  </c:pt>
                  <c:pt idx="7">
                    <c:v>Flavours</c:v>
                  </c:pt>
                  <c:pt idx="8">
                    <c:v>Packaged
Chocolate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269952.45</c:v>
                </c:pt>
                <c:pt idx="1">
                  <c:v>196405.95</c:v>
                </c:pt>
                <c:pt idx="2">
                  <c:v>82315.64</c:v>
                </c:pt>
                <c:pt idx="3">
                  <c:v>72416</c:v>
                </c:pt>
                <c:pt idx="4">
                  <c:v>40085.25</c:v>
                </c:pt>
                <c:pt idx="5">
                  <c:v>13607</c:v>
                </c:pt>
                <c:pt idx="6">
                  <c:v>11213.6</c:v>
                </c:pt>
                <c:pt idx="7">
                  <c:v>8408.8</c:v>
                </c:pt>
                <c:pt idx="8">
                  <c:v>4407.64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1781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Barista Espresso</c:v>
                  </c:pt>
                  <c:pt idx="1">
                    <c:v>Brewed Chai Tea</c:v>
                  </c:pt>
                  <c:pt idx="2">
                    <c:v>Hot Chocolate</c:v>
                  </c:pt>
                  <c:pt idx="3">
                    <c:v>Gourmet Brewed Coffee</c:v>
                  </c:pt>
                  <c:pt idx="4">
                    <c:v>Brewed Black Tea</c:v>
                  </c:pt>
                  <c:pt idx="5">
                    <c:v>Brewed Herbal Tea</c:v>
                  </c:pt>
                  <c:pt idx="6">
                    <c:v>Premium Brewed Coffee</c:v>
                  </c:pt>
                  <c:pt idx="7">
                    <c:v>Organic Brewed Coffee</c:v>
                  </c:pt>
                  <c:pt idx="8">
                    <c:v>Scone</c:v>
                  </c:pt>
                  <c:pt idx="9">
                    <c:v>Drip Coffee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91406.2</c:v>
                </c:pt>
                <c:pt idx="1">
                  <c:v>77081.95</c:v>
                </c:pt>
                <c:pt idx="2">
                  <c:v>72416</c:v>
                </c:pt>
                <c:pt idx="3">
                  <c:v>70034.6</c:v>
                </c:pt>
                <c:pt idx="4">
                  <c:v>47932</c:v>
                </c:pt>
                <c:pt idx="5">
                  <c:v>47539.5</c:v>
                </c:pt>
                <c:pt idx="6">
                  <c:v>38781.15</c:v>
                </c:pt>
                <c:pt idx="7">
                  <c:v>37746.5</c:v>
                </c:pt>
                <c:pt idx="8">
                  <c:v>36866.12</c:v>
                </c:pt>
                <c:pt idx="9">
                  <c:v>31984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8B3A2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Green Beans</c:v>
                  </c:pt>
                  <c:pt idx="1">
                    <c:v>Green Tea</c:v>
                  </c:pt>
                  <c:pt idx="2">
                    <c:v>Organic Chocolate</c:v>
                  </c:pt>
                  <c:pt idx="3">
                    <c:v>Sugar Free Syrup</c:v>
                  </c:pt>
                  <c:pt idx="4">
                    <c:v>Black Tea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1340</c:v>
                </c:pt>
                <c:pt idx="1">
                  <c:v>1470.75</c:v>
                </c:pt>
                <c:pt idx="2">
                  <c:v>1679.6</c:v>
                </c:pt>
                <c:pt idx="3">
                  <c:v>2324</c:v>
                </c:pt>
                <c:pt idx="4">
                  <c:v>2711.85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C2414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Morning
(6am-11am)</c:v>
                  </c:pt>
                  <c:pt idx="1">
                    <c:v>Afternoon
(11am-5pm)</c:v>
                  </c:pt>
                  <c:pt idx="2">
                    <c:v>Evening
(5pm-9pm)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388288.67</c:v>
                </c:pt>
                <c:pt idx="1">
                  <c:v>244855.14</c:v>
                </c:pt>
                <c:pt idx="2">
                  <c:v>65668.52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17817"/>
            </a:solidFill>
            <a:ln w="38100" cap="flat">
              <a:solidFill>
                <a:srgbClr val="C178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17817"/>
              </a:solidFill>
              <a:ln w="9525" cap="flat">
                <a:solidFill>
                  <a:srgbClr val="C178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6</c:v>
                  </c:pt>
                  <c:pt idx="1">
                    <c:v>7</c:v>
                  </c:pt>
                  <c:pt idx="2">
                    <c:v>8</c:v>
                  </c:pt>
                  <c:pt idx="3">
                    <c:v>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13</c:v>
                  </c:pt>
                  <c:pt idx="8">
                    <c:v>14</c:v>
                  </c:pt>
                  <c:pt idx="9">
                    <c:v>15</c:v>
                  </c:pt>
                  <c:pt idx="10">
                    <c:v>16</c:v>
                  </c:pt>
                  <c:pt idx="11">
                    <c:v>17</c:v>
                  </c:pt>
                  <c:pt idx="12">
                    <c:v>18</c:v>
                  </c:pt>
                  <c:pt idx="13">
                    <c:v>19</c:v>
                  </c:pt>
                  <c:pt idx="14">
                    <c:v>20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21900.27</c:v>
                </c:pt>
                <c:pt idx="1">
                  <c:v>63526.47</c:v>
                </c:pt>
                <c:pt idx="2">
                  <c:v>82699.87</c:v>
                </c:pt>
                <c:pt idx="3">
                  <c:v>85169.53</c:v>
                </c:pt>
                <c:pt idx="4">
                  <c:v>88673.39</c:v>
                </c:pt>
                <c:pt idx="5">
                  <c:v>46319.14</c:v>
                </c:pt>
                <c:pt idx="6">
                  <c:v>40192.79</c:v>
                </c:pt>
                <c:pt idx="7">
                  <c:v>40367.45</c:v>
                </c:pt>
                <c:pt idx="8">
                  <c:v>41304.74</c:v>
                </c:pt>
                <c:pt idx="9">
                  <c:v>41733.1</c:v>
                </c:pt>
                <c:pt idx="10">
                  <c:v>41122.75</c:v>
                </c:pt>
                <c:pt idx="11">
                  <c:v>40134.31</c:v>
                </c:pt>
                <c:pt idx="12">
                  <c:v>34286.2</c:v>
                </c:pt>
                <c:pt idx="13">
                  <c:v>28446.68</c:v>
                </c:pt>
                <c:pt idx="14">
                  <c:v>2935.64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Hour of Day (24h)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C2414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101677.28</c:v>
                </c:pt>
                <c:pt idx="1">
                  <c:v>99455.94</c:v>
                </c:pt>
                <c:pt idx="2">
                  <c:v>100313.54</c:v>
                </c:pt>
                <c:pt idx="3">
                  <c:v>100767.78</c:v>
                </c:pt>
                <c:pt idx="4">
                  <c:v>101373</c:v>
                </c:pt>
                <c:pt idx="5">
                  <c:v>96894.48</c:v>
                </c:pt>
                <c:pt idx="6">
                  <c:v>98330.31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9000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C2414"/>
              </a:solidFill>
              <a:effectLst/>
            </c:spPr>
          </c:dPt>
          <c:dPt>
            <c:idx val="1"/>
            <c:bubble3D val="0"/>
            <c:spPr>
              <a:solidFill>
                <a:srgbClr val="C17817"/>
              </a:solidFill>
              <a:effectLst/>
            </c:spPr>
          </c:dPt>
          <c:dPt>
            <c:idx val="2"/>
            <c:bubble3D val="0"/>
            <c:spPr>
              <a:solidFill>
                <a:srgbClr val="E8D9C5"/>
              </a:solidFill>
              <a:effectLst/>
            </c:spPr>
          </c:dPt>
          <c:dLbls>
            <c:dLbl>
              <c:idx val="0"/>
              <c:numFmt formatCode="$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$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$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$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236511.17</c:v>
                </c:pt>
                <c:pt idx="1">
                  <c:v>232243.91</c:v>
                </c:pt>
                <c:pt idx="2">
                  <c:v>230057.25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17817"/>
            </a:solidFill>
            <a:ln w="50800" cap="flat">
              <a:solidFill>
                <a:srgbClr val="C17817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17817"/>
              </a:solidFill>
              <a:ln w="9525" cap="flat">
                <a:solidFill>
                  <a:srgbClr val="C178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81677.74</c:v>
                </c:pt>
                <c:pt idx="1">
                  <c:v>76145.19</c:v>
                </c:pt>
                <c:pt idx="2">
                  <c:v>98834.68</c:v>
                </c:pt>
                <c:pt idx="3">
                  <c:v>118941.08</c:v>
                </c:pt>
                <c:pt idx="4">
                  <c:v>156727.76</c:v>
                </c:pt>
                <c:pt idx="5">
                  <c:v>166485.88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A3A2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8D9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5A3A28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5A3A2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D9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C2414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A1810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2A181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17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COFFEE SHOP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review of product, timing, and store performance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– June 2023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the CEO  |  Junior Data Analyst, Sales Analytics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months of transaction data across three New York stores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3C241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7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$698,812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– Jun 2023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3C2414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691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7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20116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214,470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2044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product types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3C2414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691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7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20116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149,116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5508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store locations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3C2414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691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7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89720" y="20116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$4.69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8972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transaction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11091672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10543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and Tea together generate 67% of all revenue — the core of the business.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Mornings (6am–11am) drive 56% of revenue; 9–10am is the single busiest hour.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more than doubled from January ($81.7K) to June ($166.5K).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stores perform within 3% of each other — no underperforming location.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Coffee Shop  |  Sales Analysis  |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Products Generate the Most Revenue?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product category, Jan–Jun 2023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463040"/>
            <a:ext cx="3383280" cy="4937760"/>
          </a:xfrm>
          <a:prstGeom prst="roundRect">
            <a:avLst>
              <a:gd name="adj" fmla="val 2162"/>
            </a:avLst>
          </a:prstGeom>
          <a:solidFill>
            <a:srgbClr val="FBF5EE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is king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03920" y="2148840"/>
            <a:ext cx="2926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Coffee: $269,952 (38.6% of revenue)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Tea: $196,406 (28.1%)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Combined, Coffee + Tea = 67% of total revenue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Packaged Chocolate is the smallest category at just 0.6% of revenue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Coffee Shop  |  Sales Analysis  |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Best-Selling Products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product types by revenue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Coffee Shop  |  Sales Analysis  | 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Underperforming Products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5 product types by revenue — candidates for promotion or review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886200" cy="4754880"/>
          </a:xfrm>
          <a:prstGeom prst="roundRect">
            <a:avLst>
              <a:gd name="adj" fmla="val 1882"/>
            </a:avLst>
          </a:prstGeom>
          <a:solidFill>
            <a:srgbClr val="FBF5EE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691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01000" y="214884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5 product types combine for under 1.4% of total revenue.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Beans and Green Tea sell fewer than $1,500 each over 6 months.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bundling, discounting, or repositioning these items — or evaluating whether shelf space is better used elsewhere.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Coffee Shop  |  Sales Analysis  |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Time of Day Performs Best?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time-of-day segment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63040"/>
            <a:ext cx="4023360" cy="4846320"/>
          </a:xfrm>
          <a:prstGeom prst="roundRect">
            <a:avLst>
              <a:gd name="adj" fmla="val 1818"/>
            </a:avLst>
          </a:prstGeom>
          <a:solidFill>
            <a:srgbClr val="3C2414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55.6%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818120" y="2606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revenue happens in the morning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18120" y="33832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Morning: $388,289 (117,629 units)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Afternoon: $244,855 (76,540 units)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Evening: $65,669 (20,301 units) — the clear opportunity window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Coffee Shop  |  Sales Analysis  |  Confidential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Trading Hours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hour of day — the store opens at 6am and closes around 8pm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206240" y="214884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3C2414"/>
          </a:solidFill>
          <a:ln/>
        </p:spPr>
      </p:sp>
      <p:sp>
        <p:nvSpPr>
          <p:cNvPr id="6" name="Text 3"/>
          <p:cNvSpPr/>
          <p:nvPr/>
        </p:nvSpPr>
        <p:spPr>
          <a:xfrm>
            <a:off x="420624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Peak: 9-10am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Coffee Shop  |  Sales Analysis  |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Trends Across the Week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day of week is remarkably stable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886200" cy="4846320"/>
          </a:xfrm>
          <a:prstGeom prst="roundRect">
            <a:avLst>
              <a:gd name="adj" fmla="val 1882"/>
            </a:avLst>
          </a:prstGeom>
          <a:solidFill>
            <a:srgbClr val="FBF5EE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691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 vs Weekend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01000" y="2148840"/>
            <a:ext cx="33832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 avg: $3,874 / day (130 days)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avg: $3,828 / day (51 days)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Per-day performance is nearly identical — demand is consistent all week, not concentrated on weekends.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Coffee Shop  |  Sales Analysis  |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Location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share across the three store locations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463040"/>
          <a:ext cx="51206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46304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FBF5EE"/>
          </a:solidFill>
          <a:ln/>
        </p:spPr>
      </p:sp>
      <p:sp>
        <p:nvSpPr>
          <p:cNvPr id="6" name="Text 3"/>
          <p:cNvSpPr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performance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37960" y="214884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Hell's Kitchen: $236,511 (33.9%) — top performer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Astoria: $232,244 (33.2%)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Manhattan: $230,057 (32.9%)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stores sit within 3% of each other — no location is underperforming, so growth strategies should be rolled out chain-wide rather than store-specific.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Coffee Shop  |  Sales Analysis  |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C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Growth, Month Over Month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more than doubled from January to June 2023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642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Coffee Shop  |  Sales Analysis  | 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actions to grow revenue and improve product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BF5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D9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evening marketing campaigns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 (5-9pm) generates only 9.4% of revenue. Targeted promotions, happy-hour pricing, or a rotating evening menu could lift this underused window.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BF5E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737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D9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0" y="2514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more of the best-sellers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5204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Barista Espresso, Brewed Chai Tea, and Hot Chocolate are the top 3 revenue drivers. Ensure consistent inventory and prominent placement for these items.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B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737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D9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66760" y="2514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underperforming products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35204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or discount Green Beans, Green Tea, and Organic Chocolate with best-sellers, or consider replacing them with higher-demand alternatives.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Coffee Shop  |  Sales Analysis  | 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C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A181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C1781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8745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daily sales reporting so leadership always has current numbers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457200" cy="457200"/>
          </a:xfrm>
          <a:prstGeom prst="ellipse">
            <a:avLst/>
          </a:prstGeom>
          <a:solidFill>
            <a:srgbClr val="C1781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9260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sales performance across multiple locations as the business expands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C1781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9776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loyalty program targeted at peak morning customer time slots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Coffee Shop  |  Sales Analysis  |  Confidential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2026-07-27T09:39:13Z</dcterms:created>
  <dcterms:modified xsi:type="dcterms:W3CDTF">2026-07-27T09:39:13Z</dcterms:modified>
</cp:coreProperties>
</file>